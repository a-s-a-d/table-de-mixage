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6"/>
  </p:notesMasterIdLst>
  <p:handoutMasterIdLst>
    <p:handoutMasterId r:id="rId37"/>
  </p:handoutMasterIdLst>
  <p:sldIdLst>
    <p:sldId id="257" r:id="rId5"/>
    <p:sldId id="268" r:id="rId6"/>
    <p:sldId id="272" r:id="rId7"/>
    <p:sldId id="305" r:id="rId8"/>
    <p:sldId id="306" r:id="rId9"/>
    <p:sldId id="261" r:id="rId10"/>
    <p:sldId id="276" r:id="rId11"/>
    <p:sldId id="292" r:id="rId12"/>
    <p:sldId id="297" r:id="rId13"/>
    <p:sldId id="278" r:id="rId14"/>
    <p:sldId id="282" r:id="rId15"/>
    <p:sldId id="285" r:id="rId16"/>
    <p:sldId id="286" r:id="rId17"/>
    <p:sldId id="287" r:id="rId18"/>
    <p:sldId id="289" r:id="rId19"/>
    <p:sldId id="290" r:id="rId20"/>
    <p:sldId id="293" r:id="rId21"/>
    <p:sldId id="277" r:id="rId22"/>
    <p:sldId id="310" r:id="rId23"/>
    <p:sldId id="294" r:id="rId24"/>
    <p:sldId id="301" r:id="rId25"/>
    <p:sldId id="298" r:id="rId26"/>
    <p:sldId id="300" r:id="rId27"/>
    <p:sldId id="312" r:id="rId28"/>
    <p:sldId id="308" r:id="rId29"/>
    <p:sldId id="302" r:id="rId30"/>
    <p:sldId id="309" r:id="rId31"/>
    <p:sldId id="307" r:id="rId32"/>
    <p:sldId id="275" r:id="rId33"/>
    <p:sldId id="303" r:id="rId34"/>
    <p:sldId id="304" r:id="rId35"/>
  </p:sldIdLst>
  <p:sldSz cx="12188825" cy="6858000"/>
  <p:notesSz cx="6858000" cy="9144000"/>
  <p:defaultTextStyle>
    <a:defPPr rtl="0">
      <a:defRPr lang="fr-f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106B93-43EC-4933-A3AF-788873588309}">
          <p14:sldIdLst>
            <p14:sldId id="257"/>
            <p14:sldId id="268"/>
            <p14:sldId id="272"/>
            <p14:sldId id="305"/>
            <p14:sldId id="306"/>
            <p14:sldId id="261"/>
            <p14:sldId id="276"/>
            <p14:sldId id="292"/>
            <p14:sldId id="297"/>
            <p14:sldId id="278"/>
            <p14:sldId id="282"/>
            <p14:sldId id="285"/>
            <p14:sldId id="286"/>
            <p14:sldId id="287"/>
            <p14:sldId id="289"/>
            <p14:sldId id="290"/>
            <p14:sldId id="293"/>
            <p14:sldId id="277"/>
            <p14:sldId id="310"/>
            <p14:sldId id="294"/>
            <p14:sldId id="301"/>
            <p14:sldId id="298"/>
            <p14:sldId id="300"/>
            <p14:sldId id="312"/>
            <p14:sldId id="308"/>
            <p14:sldId id="302"/>
            <p14:sldId id="309"/>
            <p14:sldId id="307"/>
            <p14:sldId id="275"/>
          </p14:sldIdLst>
        </p14:section>
        <p14:section name="Untitled Section" id="{AD3FF0D7-A481-4E42-A1E9-768789494926}">
          <p14:sldIdLst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5500"/>
    <a:srgbClr val="394404"/>
    <a:srgbClr val="5F6F0F"/>
    <a:srgbClr val="718412"/>
    <a:srgbClr val="65741A"/>
    <a:srgbClr val="70811D"/>
    <a:srgbClr val="7B8D1F"/>
    <a:srgbClr val="839721"/>
    <a:srgbClr val="95AB25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63803" autoAdjust="0"/>
  </p:normalViewPr>
  <p:slideViewPr>
    <p:cSldViewPr>
      <p:cViewPr varScale="1">
        <p:scale>
          <a:sx n="49" d="100"/>
          <a:sy n="49" d="100"/>
        </p:scale>
        <p:origin x="1386" y="36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924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379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8AF6929-4F16-43A6-8368-BF93843271D3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fr-FR" smtClean="0"/>
              <a:pPr algn="r" rtl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4D9CF8A1-AC6C-4B34-A6AF-5306B09514F1}" type="datetime1">
              <a:rPr lang="fr-FR" smtClean="0"/>
              <a:pPr/>
              <a:t>01/05/2025</a:t>
            </a:fld>
            <a:endParaRPr lang="fr-FR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3EBA5BD7-F043-4D1B-AA17-CD412FC534DE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Kernel_(operating_system)#cite_note-2" TargetMode="External"/><Relationship Id="rId13" Type="http://schemas.openxmlformats.org/officeDocument/2006/relationships/hyperlink" Target="https://en.wikipedia.org/wiki/Bootloader" TargetMode="External"/><Relationship Id="rId3" Type="http://schemas.openxmlformats.org/officeDocument/2006/relationships/hyperlink" Target="https://en.wikipedia.org/wiki/Computer_program" TargetMode="External"/><Relationship Id="rId7" Type="http://schemas.openxmlformats.org/officeDocument/2006/relationships/hyperlink" Target="https://en.wikipedia.org/wiki/Computer_memory" TargetMode="External"/><Relationship Id="rId12" Type="http://schemas.openxmlformats.org/officeDocument/2006/relationships/hyperlink" Target="https://en.wikipedia.org/wiki/Booting" TargetMode="External"/><Relationship Id="rId17" Type="http://schemas.openxmlformats.org/officeDocument/2006/relationships/hyperlink" Target="https://en.wikipedia.org/wiki/Data_processing" TargetMode="External"/><Relationship Id="rId2" Type="http://schemas.openxmlformats.org/officeDocument/2006/relationships/slide" Target="../slides/slide21.xml"/><Relationship Id="rId16" Type="http://schemas.openxmlformats.org/officeDocument/2006/relationships/hyperlink" Target="https://en.wikipedia.org/wiki/Software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Kernel_(operating_system)#cite_note-Linfo-1" TargetMode="External"/><Relationship Id="rId11" Type="http://schemas.openxmlformats.org/officeDocument/2006/relationships/hyperlink" Target="https://en.wikipedia.org/wiki/Cache_(computing)" TargetMode="External"/><Relationship Id="rId5" Type="http://schemas.openxmlformats.org/officeDocument/2006/relationships/hyperlink" Target="https://en.wikipedia.org/wiki/Operating_system" TargetMode="External"/><Relationship Id="rId15" Type="http://schemas.openxmlformats.org/officeDocument/2006/relationships/hyperlink" Target="https://en.wikipedia.org/wiki/Input/output" TargetMode="External"/><Relationship Id="rId10" Type="http://schemas.openxmlformats.org/officeDocument/2006/relationships/hyperlink" Target="https://en.wikipedia.org/wiki/Central_processing_unit" TargetMode="External"/><Relationship Id="rId4" Type="http://schemas.openxmlformats.org/officeDocument/2006/relationships/hyperlink" Target="https://en.wikipedia.org/wiki/Computer" TargetMode="External"/><Relationship Id="rId9" Type="http://schemas.openxmlformats.org/officeDocument/2006/relationships/hyperlink" Target="https://en.wikipedia.org/wiki/Device_driver" TargetMode="External"/><Relationship Id="rId14" Type="http://schemas.openxmlformats.org/officeDocument/2006/relationships/hyperlink" Target="https://en.wikipedia.org/wiki/Peripheral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2862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7575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87840-4AB3-F337-4557-8E889186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’image de diapositive 1">
            <a:extLst>
              <a:ext uri="{FF2B5EF4-FFF2-40B4-BE49-F238E27FC236}">
                <a16:creationId xmlns:a16="http://schemas.microsoft.com/office/drawing/2014/main" id="{C1E373C5-41CF-EA70-E88C-DA34BFF27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 2">
            <a:extLst>
              <a:ext uri="{FF2B5EF4-FFF2-40B4-BE49-F238E27FC236}">
                <a16:creationId xmlns:a16="http://schemas.microsoft.com/office/drawing/2014/main" id="{3F7BADC3-A260-62AC-27A3-7348741CC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810A47-E347-6F3B-22E0-AFEAA3797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r" rtl="0"/>
            <a:fld id="{3EBA5BD7-F043-4D1B-AA17-CD412FC534DE}" type="slidenum">
              <a:rPr lang="fr-FR" smtClean="0"/>
              <a:pPr algn="r" rtl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1443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6480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Simulations </a:t>
            </a:r>
            <a:r>
              <a:rPr lang="en-US" dirty="0" err="1"/>
              <a:t>electriques</a:t>
            </a:r>
            <a:r>
              <a:rPr lang="en-US" dirty="0"/>
              <a:t> sur </a:t>
            </a:r>
            <a:r>
              <a:rPr lang="en-US" dirty="0" err="1"/>
              <a:t>LTSpice</a:t>
            </a:r>
            <a:r>
              <a:rPr lang="en-US" dirty="0"/>
              <a:t> et PCB sur Altium designer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7731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Choix Raspberry Pi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Interface </a:t>
            </a:r>
            <a:r>
              <a:rPr lang="en-US" dirty="0" err="1"/>
              <a:t>Graphique</a:t>
            </a:r>
            <a:r>
              <a:rPr lang="en-US" dirty="0"/>
              <a:t> sur un </a:t>
            </a:r>
            <a:r>
              <a:rPr lang="en-US" dirty="0" err="1"/>
              <a:t>ecran</a:t>
            </a:r>
            <a:r>
              <a:rPr lang="en-US" dirty="0"/>
              <a:t> couleur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Performances améliorées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Conectivité</a:t>
            </a:r>
            <a:r>
              <a:rPr lang="fr-FR" dirty="0"/>
              <a:t> et </a:t>
            </a:r>
            <a:r>
              <a:rPr lang="fr-FR" dirty="0" err="1"/>
              <a:t>interfacess</a:t>
            </a:r>
            <a:r>
              <a:rPr lang="fr-FR" dirty="0"/>
              <a:t> disponibles, Nombres d’UARTS disponibles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Gestion des Tâches Complexes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Plus d’outils </a:t>
            </a:r>
            <a:r>
              <a:rPr lang="fr-FR" dirty="0" err="1"/>
              <a:t>disponiibles</a:t>
            </a:r>
            <a:r>
              <a:rPr lang="fr-FR" dirty="0"/>
              <a:t> avec une </a:t>
            </a:r>
            <a:r>
              <a:rPr lang="fr-FR" dirty="0" err="1"/>
              <a:t>possibilitées</a:t>
            </a:r>
            <a:r>
              <a:rPr lang="fr-FR" dirty="0"/>
              <a:t> de programmer en plusieurs </a:t>
            </a:r>
            <a:r>
              <a:rPr lang="fr-FR" dirty="0" err="1"/>
              <a:t>languages</a:t>
            </a:r>
            <a:r>
              <a:rPr lang="fr-FR" dirty="0"/>
              <a:t>, automatiser avec des scripts.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0" indent="0">
              <a:buFontTx/>
              <a:buNone/>
            </a:pPr>
            <a:r>
              <a:rPr lang="fr-FR" dirty="0" err="1"/>
              <a:t>Inconvenient</a:t>
            </a:r>
            <a:r>
              <a:rPr lang="fr-FR" dirty="0"/>
              <a:t>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 Pas Temps </a:t>
            </a:r>
            <a:r>
              <a:rPr lang="fr-FR" dirty="0" err="1"/>
              <a:t>reel</a:t>
            </a:r>
            <a:r>
              <a:rPr lang="fr-FR" dirty="0"/>
              <a:t>, mais la </a:t>
            </a:r>
            <a:r>
              <a:rPr lang="fr-FR" dirty="0" err="1"/>
              <a:t>vitesste</a:t>
            </a:r>
            <a:r>
              <a:rPr lang="fr-FR" dirty="0"/>
              <a:t> doit </a:t>
            </a:r>
            <a:r>
              <a:rPr lang="fr-FR" dirty="0" err="1"/>
              <a:t>etre</a:t>
            </a:r>
            <a:r>
              <a:rPr lang="fr-FR" dirty="0"/>
              <a:t> suffisant pour ne pas impacter le système. 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fr-FR" dirty="0" err="1"/>
              <a:t>Sinons</a:t>
            </a:r>
            <a:r>
              <a:rPr lang="fr-FR" dirty="0"/>
              <a:t> des solutions comme :</a:t>
            </a:r>
          </a:p>
          <a:p>
            <a:pPr marL="1504737" lvl="2" indent="-285750">
              <a:buFont typeface="Arial" panose="020B0604020202020204" pitchFamily="34" charset="0"/>
              <a:buChar char="•"/>
            </a:pPr>
            <a:r>
              <a:rPr lang="fr-FR" dirty="0"/>
              <a:t>isolations des cœurs </a:t>
            </a:r>
          </a:p>
          <a:p>
            <a:pPr marL="1504737" lvl="2" indent="-285750">
              <a:buFont typeface="Arial" panose="020B0604020202020204" pitchFamily="34" charset="0"/>
              <a:buChar char="•"/>
            </a:pPr>
            <a:r>
              <a:rPr lang="fr-FR" dirty="0"/>
              <a:t>Et programmation </a:t>
            </a:r>
            <a:r>
              <a:rPr lang="fr-FR" dirty="0" err="1"/>
              <a:t>multicoeurs</a:t>
            </a:r>
            <a:endParaRPr lang="fr-FR" dirty="0"/>
          </a:p>
          <a:p>
            <a:pPr marL="1218987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9344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Ampli</a:t>
            </a:r>
            <a:r>
              <a:rPr lang="en-US" dirty="0"/>
              <a:t> gain </a:t>
            </a:r>
            <a:r>
              <a:rPr lang="en-US" dirty="0" err="1"/>
              <a:t>automatique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2537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9746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Remarque :</a:t>
            </a:r>
            <a:r>
              <a:rPr lang="fr-FR" dirty="0"/>
              <a:t> La conversion Analogique-Numérique n'est pas encore disponible. Une mise à jour du document et du programme sera effectuée sur </a:t>
            </a:r>
            <a:r>
              <a:rPr lang="fr-FR" dirty="0" err="1"/>
              <a:t>GitLab</a:t>
            </a:r>
            <a:r>
              <a:rPr lang="fr-FR" dirty="0"/>
              <a:t> ultérieurement.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1990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N’est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pas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kernal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Standard 16C650</a:t>
            </a:r>
          </a:p>
          <a:p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Diviseur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flotant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donc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peutetre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avec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freqence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horloge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 modifier.</a:t>
            </a:r>
          </a:p>
          <a:p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termios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kernel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3" tooltip="Computer program"/>
              </a:rPr>
              <a:t>computer program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at the core of a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4" tooltip="Computer"/>
              </a:rPr>
              <a:t>computer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's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5" tooltip="Operating system"/>
              </a:rPr>
              <a:t>operating system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that always has complete control over everything in the system. The kernel is also responsible for preventing and mitigating conflicts between different processes.</a:t>
            </a:r>
            <a:r>
              <a:rPr lang="en-US" b="0" i="0" u="none" strike="noStrike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6"/>
              </a:rPr>
              <a:t>[1]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It is the portion of the operating system code that is always resident in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7" tooltip="Computer memory"/>
              </a:rPr>
              <a:t>memory</a:t>
            </a:r>
            <a:r>
              <a:rPr lang="en-US" b="0" i="0" u="none" strike="noStrike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8"/>
              </a:rPr>
              <a:t>[2]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and facilitates interactions between hardware and software components. A full kernel controls all hardware resources (e.g. I/O, memory, cryptography) via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9" tooltip="Device driver"/>
              </a:rPr>
              <a:t>device drivers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arbitrates conflicts between processes concerning such resources, and optimizes the utilization of common resources e.g.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10" tooltip="Central processing unit"/>
              </a:rPr>
              <a:t>CPU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&amp;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11" tooltip="Cache (computing)"/>
              </a:rPr>
              <a:t>cache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usage, file systems, and network sockets. On most systems, the kernel is one of the first programs loaded on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12" tooltip="Booting"/>
              </a:rPr>
              <a:t>startup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(after the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13" tooltip="Bootloader"/>
              </a:rPr>
              <a:t>bootloader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). It handles the rest of startup as well as memory,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14" tooltip="Peripheral"/>
              </a:rPr>
              <a:t>peripherals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15" tooltip="Input/output"/>
              </a:rPr>
              <a:t>input/output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(I/O) requests from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16" tooltip="Software"/>
              </a:rPr>
              <a:t>software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translating them into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17" tooltip="Data processing"/>
              </a:rPr>
              <a:t>data-processing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instructions for the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10" tooltip="Central processing unit"/>
              </a:rPr>
              <a:t>central processing unit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5085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1171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67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necteur droit 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cteur droit 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gnes inférieu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e libre 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0" name="Forme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</p:grpSp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 lang="fr-FR" dirty="0"/>
          </a:p>
        </p:txBody>
      </p:sp>
      <p:sp>
        <p:nvSpPr>
          <p:cNvPr id="22" name="Espace réservé de la date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BD9953E-5BC6-4666-A734-E77D5FB3D583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contenu 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4E2683B-2A01-44F3-996F-0E755F28A700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necteur droit 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 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7EC882C-578E-43CF-9E65-BCBD84298E0F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Espace réservé du contenu 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A58C49A-26BC-4FB4-A911-B63E6643DEF4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5" name="Espace réservé du texte 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6F639DD-CC71-40D6-8955-FCCBF169A9ED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323D875-6F7C-483B-BF0E-1653BA82CB4B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084598-F858-4552-A076-315DD4B147D7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Espace réservé d’image 2" descr="Espace réservé vide pour ajouter une image. Cliquez sur l’espace réservé et sélectionnez l’image à ajoute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n-US"/>
              <a:t>Click icon to add picture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94F228E-727C-4D01-A256-B7DDCE3C73B8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C7676E2-973F-4113-AEBA-F1FEDA77C192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FA23D85-784A-4D25-8A51-8A618AADDEDC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gnes de gauche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e libre 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4" name="Forme libre 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fr-FR" dirty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A7D55-BD47-4D12-8CDF-622FB6DC3FC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10085860" cy="2000251"/>
          </a:xfrm>
        </p:spPr>
        <p:txBody>
          <a:bodyPr rtlCol="0">
            <a:normAutofit/>
          </a:bodyPr>
          <a:lstStyle/>
          <a:p>
            <a:pPr rtl="0"/>
            <a:r>
              <a:rPr lang="fr-FR" sz="6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Table de Mixage : </a:t>
            </a:r>
            <a:r>
              <a:rPr lang="fr-FR" sz="66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SmartMix</a:t>
            </a:r>
            <a:endParaRPr lang="fr-FR" sz="6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dirty="0"/>
              <a:t>S</a:t>
            </a:r>
            <a:r>
              <a:rPr lang="fr-FR" dirty="0"/>
              <a:t>AE BUT 3 GEII ESE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3112A8-8C5C-68EE-08A5-D6EBC26A54FB}"/>
              </a:ext>
            </a:extLst>
          </p:cNvPr>
          <p:cNvSpPr txBox="1"/>
          <p:nvPr/>
        </p:nvSpPr>
        <p:spPr>
          <a:xfrm>
            <a:off x="1652510" y="3090446"/>
            <a:ext cx="1782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MUHAMMAD Asad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4800" b="1" dirty="0" err="1">
                <a:solidFill>
                  <a:schemeClr val="accent1"/>
                </a:solidFill>
              </a:rPr>
              <a:t>Sommaire</a:t>
            </a:r>
            <a:r>
              <a:rPr lang="en-GB" sz="4800" b="1" dirty="0">
                <a:solidFill>
                  <a:schemeClr val="accent1"/>
                </a:solidFill>
              </a:rPr>
              <a:t> </a:t>
            </a:r>
            <a:endParaRPr lang="fr-FR" sz="4800" b="1" dirty="0">
              <a:solidFill>
                <a:schemeClr val="accent1"/>
              </a:solidFill>
            </a:endParaRPr>
          </a:p>
        </p:txBody>
      </p:sp>
      <p:sp>
        <p:nvSpPr>
          <p:cNvPr id="14" name="Espace réservé du contenu 13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514350" indent="-514350" rtl="0">
              <a:buFont typeface="+mj-lt"/>
              <a:buAutoNum type="arabicPeriod"/>
            </a:pPr>
            <a:r>
              <a:rPr lang="fr-FR" dirty="0"/>
              <a:t>Présentation et Objectifs 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Présentation des sous-systèmes 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Approche pour la conception du système 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Détails des sous-systèmes, Conception et mise en œuvre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État actuel du système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Dysfonctionnements et maintenance 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Conclusion et pistes d'amélioration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5941C-2B69-1A23-7061-1F559602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A024A-424E-49EA-8738-237516D3E722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76F2E-6CB6-A315-AC18-EB241BD3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6B5EF-4910-425E-4BE6-5A5C3CC0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66338F-46EC-4E3F-ED5F-6DE918FD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10335"/>
            <a:ext cx="10360501" cy="1223963"/>
          </a:xfrm>
        </p:spPr>
        <p:txBody>
          <a:bodyPr rtlCol="0">
            <a:normAutofit/>
          </a:bodyPr>
          <a:lstStyle/>
          <a:p>
            <a:pPr rtl="0"/>
            <a:r>
              <a:rPr lang="en-US" sz="4400" b="1" dirty="0" err="1">
                <a:solidFill>
                  <a:schemeClr val="accent1"/>
                </a:solidFill>
              </a:rPr>
              <a:t>Contexte</a:t>
            </a:r>
            <a:r>
              <a:rPr lang="en-US" sz="4400" b="1" dirty="0">
                <a:solidFill>
                  <a:schemeClr val="accent1"/>
                </a:solidFill>
              </a:rPr>
              <a:t> et </a:t>
            </a:r>
            <a:r>
              <a:rPr lang="en-US" sz="4400" b="1" dirty="0" err="1">
                <a:solidFill>
                  <a:schemeClr val="accent1"/>
                </a:solidFill>
              </a:rPr>
              <a:t>Besoin</a:t>
            </a:r>
            <a:endParaRPr lang="fr-FR" sz="4400" b="1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0B21D0-CE82-D3C7-64F7-1F6361234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6715" y="3531676"/>
            <a:ext cx="6315689" cy="2345596"/>
          </a:xfrm>
        </p:spPr>
        <p:txBody>
          <a:bodyPr rtlCol="0"/>
          <a:lstStyle/>
          <a:p>
            <a:pPr marL="0" indent="0">
              <a:buNone/>
            </a:pPr>
            <a:r>
              <a:rPr lang="fr-FR" dirty="0"/>
              <a:t>Fonctionnalités clés :</a:t>
            </a:r>
          </a:p>
          <a:p>
            <a:r>
              <a:rPr lang="fr-FR" dirty="0"/>
              <a:t>2 Entrées Numériques</a:t>
            </a:r>
          </a:p>
          <a:p>
            <a:r>
              <a:rPr lang="fr-FR" dirty="0"/>
              <a:t>2 Entrées Analogiques</a:t>
            </a:r>
          </a:p>
          <a:p>
            <a:r>
              <a:rPr lang="fr-FR" dirty="0"/>
              <a:t>Synchronisation des données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D5A96E-281A-1D55-A0DF-9439A5541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118CE-F31D-4BE3-9F75-3242D8502034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F60D4-23A5-C7EF-5B4A-5E6ED9871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3</a:t>
            </a:fld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B54CA-D29D-FB66-A848-9F336037C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628" y="1175464"/>
            <a:ext cx="2669257" cy="5185360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39CDADF2-DF3C-D38B-C3BD-4DBCAF7F4F7D}"/>
              </a:ext>
            </a:extLst>
          </p:cNvPr>
          <p:cNvSpPr txBox="1">
            <a:spLocks/>
          </p:cNvSpPr>
          <p:nvPr/>
        </p:nvSpPr>
        <p:spPr>
          <a:xfrm>
            <a:off x="1216714" y="1576036"/>
            <a:ext cx="6315689" cy="2345596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Mixage des signaux audios (analogiques ou numériques) envoyés par des instruments développés par les étudiants de BUT 3 GEII ESE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295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76158-E54F-7077-707C-A4425A9B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826BF9-6DFB-B15B-A409-F79C2265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4</a:t>
            </a:fld>
            <a:endParaRPr lang="fr-FR" dirty="0"/>
          </a:p>
        </p:txBody>
      </p:sp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BB94A167-96A8-168B-55D6-169DE1E85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622" y="1196752"/>
            <a:ext cx="8317579" cy="4772287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C39ECDD1-CCB4-A2B6-3CFF-CE9BF0FDF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10335"/>
            <a:ext cx="10360501" cy="1223963"/>
          </a:xfrm>
        </p:spPr>
        <p:txBody>
          <a:bodyPr rtlCol="0">
            <a:normAutofit/>
          </a:bodyPr>
          <a:lstStyle/>
          <a:p>
            <a:pPr rtl="0"/>
            <a:r>
              <a:rPr lang="en-US" sz="4400" b="1" dirty="0">
                <a:solidFill>
                  <a:schemeClr val="accent1"/>
                </a:solidFill>
              </a:rPr>
              <a:t>FAST</a:t>
            </a:r>
            <a:endParaRPr lang="fr-FR" sz="4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02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78E7859-9C38-3835-A3D2-9F81480CF6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623" y="136523"/>
            <a:ext cx="8317578" cy="6033213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A85C8-E32F-0304-713F-2B847F84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0AF4E3-F889-9494-B422-3A5EA34F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959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914161" y="-110333"/>
            <a:ext cx="10360501" cy="1223963"/>
          </a:xfrm>
        </p:spPr>
        <p:txBody>
          <a:bodyPr rtlCol="0">
            <a:normAutofit/>
          </a:bodyPr>
          <a:lstStyle/>
          <a:p>
            <a:pPr rtl="0"/>
            <a:r>
              <a:rPr lang="fr-FR" sz="4800" b="1" dirty="0">
                <a:solidFill>
                  <a:schemeClr val="accent1"/>
                </a:solidFill>
              </a:rPr>
              <a:t>Caractéristiques principales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1F1D6-4F80-FCE3-A856-F9A34D6B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80F9-E4AB-46C6-983F-81C4F40AFF75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64C3-C390-0D19-FAF2-F7F15675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6</a:t>
            </a:fld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303F6F-C5BD-45E5-E182-F69A34BE6D30}"/>
              </a:ext>
            </a:extLst>
          </p:cNvPr>
          <p:cNvSpPr/>
          <p:nvPr/>
        </p:nvSpPr>
        <p:spPr>
          <a:xfrm>
            <a:off x="3790156" y="1429654"/>
            <a:ext cx="4248472" cy="3641665"/>
          </a:xfrm>
          <a:prstGeom prst="rect">
            <a:avLst/>
          </a:prstGeom>
          <a:solidFill>
            <a:srgbClr val="E71224">
              <a:alpha val="5000"/>
            </a:srgbClr>
          </a:solidFill>
          <a:ln w="12600">
            <a:solidFill>
              <a:srgbClr val="E712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>
              <a:solidFill>
                <a:srgbClr val="E71224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82AE559-380D-A061-5A2B-C830297688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732" y="1113630"/>
            <a:ext cx="9435930" cy="4838252"/>
          </a:xfrm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084E-5FED-0D75-F5B1-54B82196F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71400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Conditionnement de signal analogique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86778-E93F-A6FE-6EAA-A101C6E7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CF8699-14E5-8B78-B094-0B975D93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7</a:t>
            </a:fld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CC7D48-B9C3-31C4-1F1F-C203FA8EF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164" y="1268760"/>
            <a:ext cx="6785214" cy="46509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127049-6414-9F6E-A3BC-A80E0211763B}"/>
              </a:ext>
            </a:extLst>
          </p:cNvPr>
          <p:cNvSpPr txBox="1"/>
          <p:nvPr/>
        </p:nvSpPr>
        <p:spPr>
          <a:xfrm>
            <a:off x="1053852" y="1556792"/>
            <a:ext cx="299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100mVpp- ~3.3Vpp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41882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310A-B906-7B2F-85E9-8EF1D64E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6D34-80A1-EA80-5A36-D49C6802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71400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Entrée Numérique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B64D0-D37B-97A6-1BBB-F799EC34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830AFB-4678-15C1-0709-EA10A945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8</a:t>
            </a:fld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880EDD-509E-D0F5-A911-C0C3A736C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60" y="2733815"/>
            <a:ext cx="10360501" cy="139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3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34A5E-E94E-9EFC-E264-BFD09CB33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9A2349-9B30-BF1A-AD6C-7F5A3407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66C21-6646-59FA-E1A4-17787D62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9</a:t>
            </a:fld>
            <a:endParaRPr lang="fr-FR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5C6DCD8-A08A-A6C4-CBC5-4183F13AB0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50046" y="1119854"/>
            <a:ext cx="10024616" cy="4253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96DCBA-3A3E-0C31-68A4-BF3C20361059}"/>
              </a:ext>
            </a:extLst>
          </p:cNvPr>
          <p:cNvSpPr txBox="1"/>
          <p:nvPr/>
        </p:nvSpPr>
        <p:spPr>
          <a:xfrm>
            <a:off x="1015469" y="5507313"/>
            <a:ext cx="10715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Développement parallèle, Maintenance Facile, Réutilisabilité, Améliorations faciles.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660DB6-893C-0A04-8985-549715AE4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04775"/>
            <a:ext cx="10360025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Approche de Conception : Modulaire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35071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4630F-E232-425C-CBCA-91159C38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1B5CA7-DC8D-9B7B-BDB9-0C53AC1BF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676F41-5C15-42CD-BA6A-C37054B4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10</a:t>
            </a:fld>
            <a:endParaRPr lang="fr-FR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C182B4-6E43-45F8-E963-5D9960119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71400"/>
            <a:ext cx="10665223" cy="1223963"/>
          </a:xfrm>
        </p:spPr>
        <p:txBody>
          <a:bodyPr>
            <a:normAutofit/>
          </a:bodyPr>
          <a:lstStyle/>
          <a:p>
            <a:r>
              <a:rPr lang="fr-FR" sz="4400" b="1" kern="1200" dirty="0">
                <a:solidFill>
                  <a:srgbClr val="009999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Entrée et Protection Surtensions</a:t>
            </a:r>
            <a:endParaRPr lang="fr-FR" sz="4400" b="1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190305-5F21-6403-A2E5-9C4A10B2E5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01924" y="2580407"/>
            <a:ext cx="2587098" cy="2248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22160A-CB64-5341-C3CB-4486C8519B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86" t="23238" r="16068" b="19028"/>
          <a:stretch/>
        </p:blipFill>
        <p:spPr>
          <a:xfrm>
            <a:off x="6068808" y="1296288"/>
            <a:ext cx="4922148" cy="237626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A836AB-7D88-ADAE-6C4D-0B845301CD56}"/>
              </a:ext>
            </a:extLst>
          </p:cNvPr>
          <p:cNvCxnSpPr/>
          <p:nvPr/>
        </p:nvCxnSpPr>
        <p:spPr>
          <a:xfrm>
            <a:off x="4582244" y="3704457"/>
            <a:ext cx="100811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69EFE14-4FE1-35FD-3C15-5AFEDCB30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225"/>
          <a:stretch/>
        </p:blipFill>
        <p:spPr>
          <a:xfrm>
            <a:off x="6068808" y="3736363"/>
            <a:ext cx="4922148" cy="21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3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86C83-3810-92BF-C322-CA7E8EE4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626F-5051-9308-7A30-A62AF0D9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99392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Entrée Haute Impédance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4E191E-6933-1FA6-8BE1-D1177ED9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AB2781-C63C-F8D6-B72B-D64D835C3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11</a:t>
            </a:fld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89B66-5381-3022-7A4C-44CFF94B05E8}"/>
              </a:ext>
            </a:extLst>
          </p:cNvPr>
          <p:cNvSpPr txBox="1"/>
          <p:nvPr/>
        </p:nvSpPr>
        <p:spPr>
          <a:xfrm>
            <a:off x="989461" y="1034678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Module</a:t>
            </a:r>
            <a:endParaRPr lang="fr-FR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B0C54E-E2F4-9D6F-7401-2C7CFEB2F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340" y="1625499"/>
            <a:ext cx="5376097" cy="4481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55B591-33B7-BBEF-C596-8954AD52B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247" y="3363959"/>
            <a:ext cx="2613864" cy="27557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C527B7-2034-36D5-A5D2-EF05FC5EB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246" y="1630579"/>
            <a:ext cx="2613864" cy="161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57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2B94-BC49-D7B2-181D-6D5546DBD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F410-EC40-06CF-DCCC-BBFE1EB2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99392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Entrée Haute Impédance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A45CED-8F88-237F-1D15-C0A1037C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6F45A5-BA1E-2BD8-68B4-62170618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12</a:t>
            </a:fld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9CECD-FEB2-A6A1-A715-5828A42B910B}"/>
              </a:ext>
            </a:extLst>
          </p:cNvPr>
          <p:cNvSpPr txBox="1"/>
          <p:nvPr/>
        </p:nvSpPr>
        <p:spPr>
          <a:xfrm>
            <a:off x="989461" y="1034678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Module</a:t>
            </a:r>
            <a:endParaRPr lang="fr-FR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C973D2-CC3D-65F5-A37C-C10177086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55" y="1801920"/>
            <a:ext cx="3882704" cy="3783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EA018C-02B5-1B24-9AEB-036FB1B82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400" y="1061020"/>
            <a:ext cx="4677543" cy="537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66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C275-FF10-8397-09D8-7EC622A0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022D-8FBA-4801-36F4-37E74DA8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89235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Amplification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146DB-595B-05A9-8F49-6F3E45419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19C528-6F86-67FC-8982-D60701D1C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13</a:t>
            </a:fld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3E7DA-45F6-721D-AFC4-BA052DCC6533}"/>
              </a:ext>
            </a:extLst>
          </p:cNvPr>
          <p:cNvSpPr txBox="1"/>
          <p:nvPr/>
        </p:nvSpPr>
        <p:spPr>
          <a:xfrm>
            <a:off x="989461" y="1034678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Module</a:t>
            </a:r>
            <a:endParaRPr lang="fr-FR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63C91-1867-74A1-0C62-923E4B582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980" y="1492313"/>
            <a:ext cx="8159787" cy="43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4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CB3BE-E322-2BAF-B740-525C8D8A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A66CF4-E994-7AB1-094D-1B217186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63E82F-04BF-B572-979A-810D66BD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14</a:t>
            </a:fld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10719-A005-A8F7-451A-46256AFCAD1D}"/>
              </a:ext>
            </a:extLst>
          </p:cNvPr>
          <p:cNvSpPr txBox="1"/>
          <p:nvPr/>
        </p:nvSpPr>
        <p:spPr>
          <a:xfrm>
            <a:off x="989461" y="1034678"/>
            <a:ext cx="1588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A module</a:t>
            </a:r>
            <a:endParaRPr lang="fr-FR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5D6A12-B6F5-FC8F-7D40-1A451088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739" y="2059302"/>
            <a:ext cx="3828427" cy="32008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997709-7055-96AD-16C0-DEA1044FF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18" y="642548"/>
            <a:ext cx="5849166" cy="557290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4AA6E99-8F3D-41D6-6BEF-27DEE28A7104}"/>
              </a:ext>
            </a:extLst>
          </p:cNvPr>
          <p:cNvSpPr txBox="1">
            <a:spLocks/>
          </p:cNvSpPr>
          <p:nvPr/>
        </p:nvSpPr>
        <p:spPr>
          <a:xfrm>
            <a:off x="914161" y="-189235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b="1">
                <a:solidFill>
                  <a:schemeClr val="accent1"/>
                </a:solidFill>
              </a:rPr>
              <a:t>Amplification</a:t>
            </a:r>
            <a:endParaRPr lang="fr-FR" sz="4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61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91DB7-680F-4BCE-D505-D7B7D9A9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15801-1A73-022B-A3C7-F3178BAB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13E65FB-1CE5-E0EC-511B-5E7D4CD8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15</a:t>
            </a:fld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955E6-2094-ED56-9459-0FF7D798DBAD}"/>
              </a:ext>
            </a:extLst>
          </p:cNvPr>
          <p:cNvSpPr txBox="1"/>
          <p:nvPr/>
        </p:nvSpPr>
        <p:spPr>
          <a:xfrm>
            <a:off x="989461" y="1034678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Module</a:t>
            </a:r>
            <a:endParaRPr lang="fr-FR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52540-9C14-3CCD-4B83-81A3615E0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19" y="616105"/>
            <a:ext cx="7976397" cy="5625789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2022B95-3EEF-6C7C-05B4-3FA0DAFB8845}"/>
              </a:ext>
            </a:extLst>
          </p:cNvPr>
          <p:cNvSpPr txBox="1">
            <a:spLocks/>
          </p:cNvSpPr>
          <p:nvPr/>
        </p:nvSpPr>
        <p:spPr>
          <a:xfrm>
            <a:off x="914161" y="-141673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b="1">
                <a:solidFill>
                  <a:schemeClr val="accent1"/>
                </a:solidFill>
              </a:rPr>
              <a:t>Offset</a:t>
            </a:r>
            <a:endParaRPr lang="fr-FR" sz="4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640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9773-47CF-52C2-22C1-8A1A2673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4504-1348-FFCB-C11C-24A6A4AC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41673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Offset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524F2-D70B-95B7-E2D2-5440AA8E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9F6241-A348-B7D4-BDA4-E3B0B511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16</a:t>
            </a:fld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EC58B-D573-773A-15B3-0F1DC9ED0293}"/>
              </a:ext>
            </a:extLst>
          </p:cNvPr>
          <p:cNvSpPr txBox="1"/>
          <p:nvPr/>
        </p:nvSpPr>
        <p:spPr>
          <a:xfrm>
            <a:off x="989461" y="1034678"/>
            <a:ext cx="1588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A module</a:t>
            </a:r>
            <a:endParaRPr lang="fr-FR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F7D85-A641-7536-1D4F-6230D5AEA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176" y="1800197"/>
            <a:ext cx="4451354" cy="38805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50A949-0CED-A502-8782-7CEC82DB3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436" y="228521"/>
            <a:ext cx="4888928" cy="613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2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7990-80F0-F4C4-423E-95CF76B7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B00E6-B864-0AD0-90BA-25A2F29B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73633"/>
            <a:ext cx="10360501" cy="122396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Conversion </a:t>
            </a:r>
            <a:r>
              <a:rPr lang="en-US" sz="4400" b="1" dirty="0" err="1">
                <a:solidFill>
                  <a:schemeClr val="accent1"/>
                </a:solidFill>
              </a:rPr>
              <a:t>Analogique</a:t>
            </a:r>
            <a:r>
              <a:rPr lang="en-US" sz="4400" b="1" dirty="0">
                <a:solidFill>
                  <a:schemeClr val="accent1"/>
                </a:solidFill>
              </a:rPr>
              <a:t> Numérique</a:t>
            </a:r>
            <a:endParaRPr lang="fr-FR" sz="4400" b="1" dirty="0">
              <a:solidFill>
                <a:schemeClr val="accent1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E75238-9585-AEA7-45E9-6204ADCD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31EF0D-DC71-D670-C44A-281D1132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17</a:t>
            </a:fld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C3B10-8E0C-2133-BB1C-2E6C8E3C70CE}"/>
              </a:ext>
            </a:extLst>
          </p:cNvPr>
          <p:cNvSpPr txBox="1"/>
          <p:nvPr/>
        </p:nvSpPr>
        <p:spPr>
          <a:xfrm>
            <a:off x="989460" y="1034678"/>
            <a:ext cx="47449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ADC : Mcp3564 </a:t>
            </a:r>
          </a:p>
          <a:p>
            <a:pPr marL="1066693" lvl="1" indent="-457200">
              <a:buFontTx/>
              <a:buChar char="-"/>
            </a:pPr>
            <a:r>
              <a:rPr lang="en-US" sz="2800" dirty="0"/>
              <a:t>24 bits</a:t>
            </a:r>
          </a:p>
          <a:p>
            <a:pPr marL="1066693" lvl="1" indent="-457200">
              <a:buFontTx/>
              <a:buChar char="-"/>
            </a:pPr>
            <a:r>
              <a:rPr lang="en-US" sz="2800" dirty="0"/>
              <a:t>Maximum 152kHz</a:t>
            </a:r>
          </a:p>
          <a:p>
            <a:pPr marL="1066693" lvl="1" indent="-457200">
              <a:buFontTx/>
              <a:buChar char="-"/>
            </a:pPr>
            <a:r>
              <a:rPr lang="en-US" sz="2800" dirty="0"/>
              <a:t>SPI</a:t>
            </a:r>
          </a:p>
          <a:p>
            <a:pPr marL="1066693" lvl="1" indent="-457200">
              <a:buFontTx/>
              <a:buChar char="-"/>
            </a:pPr>
            <a:endParaRPr lang="fr-F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111E6-9500-513A-A020-4ED89F62E641}"/>
              </a:ext>
            </a:extLst>
          </p:cNvPr>
          <p:cNvSpPr txBox="1"/>
          <p:nvPr/>
        </p:nvSpPr>
        <p:spPr>
          <a:xfrm>
            <a:off x="3028208" y="3112072"/>
            <a:ext cx="61039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/>
              <a:t>En </a:t>
            </a:r>
            <a:r>
              <a:rPr lang="en-GB" sz="4400" dirty="0" err="1"/>
              <a:t>developpement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123792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38D4-4A98-2254-121C-27E5678E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Carte Mère</a:t>
            </a:r>
            <a:endParaRPr lang="fr-FR" sz="44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95B37-8425-87D6-FB3B-00BFB159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388A81-9B5E-EB69-C302-5D49A204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18</a:t>
            </a:fld>
            <a:endParaRPr lang="fr-FR" dirty="0"/>
          </a:p>
        </p:txBody>
      </p:sp>
      <p:pic>
        <p:nvPicPr>
          <p:cNvPr id="3" name="Content Placeholder 2" descr="A computer generated image of a circuit board&#10;&#10;AI-generated content may be incorrect.">
            <a:extLst>
              <a:ext uri="{FF2B5EF4-FFF2-40B4-BE49-F238E27FC236}">
                <a16:creationId xmlns:a16="http://schemas.microsoft.com/office/drawing/2014/main" id="{5013D743-A410-CCCE-A8BC-38D86B1663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6706" r="6935"/>
          <a:stretch/>
        </p:blipFill>
        <p:spPr>
          <a:xfrm>
            <a:off x="5734372" y="906824"/>
            <a:ext cx="6188362" cy="5044352"/>
          </a:xfrm>
          <a:prstGeom prst="rect">
            <a:avLst/>
          </a:prstGeom>
        </p:spPr>
      </p:pic>
      <p:pic>
        <p:nvPicPr>
          <p:cNvPr id="4" name="Picture 3" descr="A computer circuit board with many different components&#10;&#10;AI-generated content may be incorrect.">
            <a:extLst>
              <a:ext uri="{FF2B5EF4-FFF2-40B4-BE49-F238E27FC236}">
                <a16:creationId xmlns:a16="http://schemas.microsoft.com/office/drawing/2014/main" id="{2AF477EC-8978-D6F7-77DE-388D6CD17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20" y="1600886"/>
            <a:ext cx="4817133" cy="389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6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3FBFD-E3F2-8DA1-90E4-3CABCCCDF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5734" y="1509192"/>
            <a:ext cx="5078677" cy="3454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b="1" dirty="0"/>
              <a:t>Alimentations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Tensions requises : +12V, -12V, 3.3V, 5V.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Connexion aux connecteurs dédiés.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b="1" dirty="0"/>
              <a:t>2. Connexions des Entrées Analogiques &amp; Numériques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b="1" dirty="0"/>
              <a:t>Sources Analogiques</a:t>
            </a:r>
            <a:r>
              <a:rPr lang="fr-FR" sz="2000" dirty="0"/>
              <a:t> : jack 3.5mm, sources audios.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b="1" dirty="0"/>
              <a:t>Signaux Numériques</a:t>
            </a:r>
            <a:r>
              <a:rPr lang="fr-FR" sz="2000" dirty="0"/>
              <a:t> : Niveau logique 3.3V pour le MIDI, jack 3.5mm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F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2B7EB-9050-2ADB-07E5-A487E6BD5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2444" y="1484784"/>
            <a:ext cx="5078677" cy="3454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b="1" dirty="0"/>
              <a:t>3. Installation du Système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Préparation de la carte SD.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Installation de Raspberry Pi OS et des bibliothèques nécessaires.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Démarrage de la Raspberry Pi avec le programme dédié.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b="1" dirty="0"/>
              <a:t>4. Précautions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Respect des niveaux de signal : +4 </a:t>
            </a:r>
            <a:r>
              <a:rPr lang="fr-FR" sz="2000" dirty="0" err="1"/>
              <a:t>dBu</a:t>
            </a:r>
            <a:r>
              <a:rPr lang="fr-FR" sz="2000" dirty="0"/>
              <a:t> (1.736V </a:t>
            </a:r>
            <a:r>
              <a:rPr lang="fr-FR" sz="2000" dirty="0" err="1"/>
              <a:t>peak</a:t>
            </a:r>
            <a:r>
              <a:rPr lang="fr-FR" sz="2000" dirty="0"/>
              <a:t>) pour l’analogique.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Manipulation électrique uniquement système éteint.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Suivi des schémas et consignes de sécurité.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48652-8111-9BA5-B2BD-2EA14DF7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406960-190F-D2F7-5975-609E3B39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19</a:t>
            </a:fld>
            <a:endParaRPr lang="fr-FR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4C11A7-DBAE-872B-B3ED-18291C0F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Mise en œuvre électrique,</a:t>
            </a:r>
            <a:r>
              <a:rPr lang="en-US" sz="4400" dirty="0"/>
              <a:t> Checklist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296175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3A607E72-AAD4-573B-40B8-FBA3ACD4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882" y="6356352"/>
            <a:ext cx="2234618" cy="365125"/>
          </a:xfrm>
        </p:spPr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18" name="Slide Number Placeholder 7">
            <a:extLst>
              <a:ext uri="{FF2B5EF4-FFF2-40B4-BE49-F238E27FC236}">
                <a16:creationId xmlns:a16="http://schemas.microsoft.com/office/drawing/2014/main" id="{C726B74A-3906-D136-73EF-B9C7E008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649" y="6356352"/>
            <a:ext cx="1015735" cy="365125"/>
          </a:xfrm>
        </p:spPr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20</a:t>
            </a:fld>
            <a:endParaRPr lang="fr-FR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E7F84ED-C454-ED84-980D-1CB41D40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71400"/>
            <a:ext cx="10665223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Entrée Numérique et Isolation électrique</a:t>
            </a:r>
          </a:p>
        </p:txBody>
      </p:sp>
      <p:pic>
        <p:nvPicPr>
          <p:cNvPr id="20" name="Content Placeholder 5">
            <a:extLst>
              <a:ext uri="{FF2B5EF4-FFF2-40B4-BE49-F238E27FC236}">
                <a16:creationId xmlns:a16="http://schemas.microsoft.com/office/drawing/2014/main" id="{C0889FC1-A310-8714-0ED1-E020E3EBC6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41884" y="3008438"/>
            <a:ext cx="1751576" cy="152206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E2E359-3E31-4FBA-2A62-045E04B40E49}"/>
              </a:ext>
            </a:extLst>
          </p:cNvPr>
          <p:cNvCxnSpPr/>
          <p:nvPr/>
        </p:nvCxnSpPr>
        <p:spPr>
          <a:xfrm>
            <a:off x="3190754" y="3763984"/>
            <a:ext cx="100811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D4173D62-F6D4-3343-4638-7EA77D1FE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333" y="1642481"/>
            <a:ext cx="4190579" cy="20746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B3F3AF7-E609-0648-F440-D4732E23D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332" y="3789040"/>
            <a:ext cx="4190580" cy="2093284"/>
          </a:xfrm>
          <a:prstGeom prst="rect">
            <a:avLst/>
          </a:prstGeom>
        </p:spPr>
      </p:pic>
      <p:pic>
        <p:nvPicPr>
          <p:cNvPr id="1026" name="Picture 2" descr="Optocoupleur: Comment bien Choisir pour ...">
            <a:extLst>
              <a:ext uri="{FF2B5EF4-FFF2-40B4-BE49-F238E27FC236}">
                <a16:creationId xmlns:a16="http://schemas.microsoft.com/office/drawing/2014/main" id="{7108436C-4A71-254B-FB78-4D29326C7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0926" y="3116224"/>
            <a:ext cx="1967598" cy="127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A078696-FF40-7A7D-C6E7-99363AB4472C}"/>
              </a:ext>
            </a:extLst>
          </p:cNvPr>
          <p:cNvSpPr txBox="1"/>
          <p:nvPr/>
        </p:nvSpPr>
        <p:spPr>
          <a:xfrm>
            <a:off x="8913265" y="345551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028202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8FD00-71E3-2F0D-E8A8-85E7FEFE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E485F-BA34-B23F-ECA0-24167324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21</a:t>
            </a:fld>
            <a:endParaRPr lang="fr-FR" dirty="0"/>
          </a:p>
        </p:txBody>
      </p:sp>
      <p:pic>
        <p:nvPicPr>
          <p:cNvPr id="2050" name="Picture 2" descr="MIDI Communication Tips – CHD Elektroservis">
            <a:extLst>
              <a:ext uri="{FF2B5EF4-FFF2-40B4-BE49-F238E27FC236}">
                <a16:creationId xmlns:a16="http://schemas.microsoft.com/office/drawing/2014/main" id="{98DB3E7C-2103-98C2-B048-AA4FA8ECC5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164" y="1052563"/>
            <a:ext cx="6369540" cy="21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D55F13A-58B5-06DF-F28E-D7BFF225C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71400"/>
            <a:ext cx="10665223" cy="1223963"/>
          </a:xfrm>
        </p:spPr>
        <p:txBody>
          <a:bodyPr>
            <a:normAutofit/>
          </a:bodyPr>
          <a:lstStyle/>
          <a:p>
            <a:r>
              <a:rPr lang="fr-FR" sz="4400" b="1" kern="1200" dirty="0">
                <a:solidFill>
                  <a:srgbClr val="009999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Données Midi</a:t>
            </a:r>
            <a:endParaRPr lang="fr-FR" sz="4400" b="1" dirty="0">
              <a:solidFill>
                <a:schemeClr val="accent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B9D0E6-BBD1-AEBB-FC11-87C419EE7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886814"/>
              </p:ext>
            </p:extLst>
          </p:nvPr>
        </p:nvGraphicFramePr>
        <p:xfrm>
          <a:off x="2927007" y="3429000"/>
          <a:ext cx="823985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59">
                  <a:extLst>
                    <a:ext uri="{9D8B030D-6E8A-4147-A177-3AD203B41FA5}">
                      <a16:colId xmlns:a16="http://schemas.microsoft.com/office/drawing/2014/main" val="1366662169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712458131"/>
                    </a:ext>
                  </a:extLst>
                </a:gridCol>
                <a:gridCol w="4464495">
                  <a:extLst>
                    <a:ext uri="{9D8B030D-6E8A-4147-A177-3AD203B41FA5}">
                      <a16:colId xmlns:a16="http://schemas.microsoft.com/office/drawing/2014/main" val="34500051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r>
                        <a:rPr lang="en-GB" dirty="0"/>
                        <a:t>MIDI Standard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Utilisé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Pourquoi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63914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r>
                        <a:rPr lang="en-GB" dirty="0"/>
                        <a:t>31250 baud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115200 baud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31250 </a:t>
                      </a:r>
                      <a:r>
                        <a:rPr lang="en-GB" dirty="0" err="1"/>
                        <a:t>n’est</a:t>
                      </a:r>
                      <a:r>
                        <a:rPr lang="en-GB" dirty="0"/>
                        <a:t> pas standard 16C650, </a:t>
                      </a:r>
                      <a:r>
                        <a:rPr lang="en-GB" dirty="0" err="1"/>
                        <a:t>donc</a:t>
                      </a:r>
                      <a:r>
                        <a:rPr lang="en-GB" dirty="0"/>
                        <a:t> il faut </a:t>
                      </a:r>
                      <a:r>
                        <a:rPr lang="en-GB" dirty="0" err="1"/>
                        <a:t>une</a:t>
                      </a:r>
                      <a:r>
                        <a:rPr lang="en-GB" dirty="0"/>
                        <a:t> configuration </a:t>
                      </a:r>
                      <a:r>
                        <a:rPr lang="en-GB" dirty="0" err="1"/>
                        <a:t>manuelle</a:t>
                      </a:r>
                      <a:r>
                        <a:rPr lang="en-GB" dirty="0"/>
                        <a:t>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02368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r>
                        <a:rPr lang="en-GB" dirty="0"/>
                        <a:t>0 – 5V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 – 3.3V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0-3.3V is the logic levels for Raspberry Pi.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15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23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050B57A-685D-6E90-FB16-35B0329916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85899" y="1724590"/>
            <a:ext cx="4290265" cy="4296698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94BABF-E789-B4A3-D66C-4D46F407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D1711D-118B-F11A-5758-503E445C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22</a:t>
            </a:fld>
            <a:endParaRPr lang="fr-FR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3DE705C-97D0-69BC-02B6-07BE0FFA38C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4412" y="1701800"/>
            <a:ext cx="5750102" cy="431948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79BBF4F-807D-C74B-263A-E93D11C44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71400"/>
            <a:ext cx="10665223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rgbClr val="009999"/>
                </a:solidFill>
                <a:latin typeface="Calibri" panose="020F0502020204030204" pitchFamily="34" charset="0"/>
              </a:rPr>
              <a:t>GPIO : </a:t>
            </a:r>
            <a:r>
              <a:rPr lang="fr-FR" sz="4400" b="1" dirty="0" err="1">
                <a:solidFill>
                  <a:srgbClr val="009999"/>
                </a:solidFill>
                <a:latin typeface="Calibri" panose="020F0502020204030204" pitchFamily="34" charset="0"/>
              </a:rPr>
              <a:t>Uart</a:t>
            </a:r>
            <a:endParaRPr lang="fr-FR" sz="4400" b="1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73A15A-7C23-A58E-A513-05A33BD67E92}"/>
              </a:ext>
            </a:extLst>
          </p:cNvPr>
          <p:cNvSpPr txBox="1"/>
          <p:nvPr/>
        </p:nvSpPr>
        <p:spPr>
          <a:xfrm>
            <a:off x="989461" y="1034678"/>
            <a:ext cx="201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Raspberry Pi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31234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5C4A-9299-350C-0466-D080DFA5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1E4DA-2AA5-8A24-FE96-B7606F19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2E7700-DDA0-C022-C7CC-C57F5901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23</a:t>
            </a:fld>
            <a:endParaRPr lang="fr-FR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DF8AFF0-FD00-5D37-AD1B-B9541CDAE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71400"/>
            <a:ext cx="10665223" cy="1223963"/>
          </a:xfrm>
        </p:spPr>
        <p:txBody>
          <a:bodyPr>
            <a:normAutofit/>
          </a:bodyPr>
          <a:lstStyle/>
          <a:p>
            <a:r>
              <a:rPr lang="fr-FR" sz="4400" b="1" kern="1200" dirty="0">
                <a:solidFill>
                  <a:srgbClr val="009999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Configuration </a:t>
            </a:r>
            <a:r>
              <a:rPr lang="fr-FR" sz="4400" b="1" kern="1200" dirty="0" err="1">
                <a:solidFill>
                  <a:srgbClr val="009999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Uart</a:t>
            </a:r>
            <a:endParaRPr lang="fr-FR" sz="4400" b="1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7C275C-731D-14AC-283A-F90EEF3D6B16}"/>
              </a:ext>
            </a:extLst>
          </p:cNvPr>
          <p:cNvSpPr txBox="1"/>
          <p:nvPr/>
        </p:nvSpPr>
        <p:spPr>
          <a:xfrm>
            <a:off x="989461" y="1034678"/>
            <a:ext cx="201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Raspberry Pi</a:t>
            </a:r>
            <a:endParaRPr lang="fr-FR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2592-303A-D412-0212-9B965AE8A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557898"/>
            <a:ext cx="10665223" cy="4614302"/>
          </a:xfrm>
        </p:spPr>
        <p:txBody>
          <a:bodyPr/>
          <a:lstStyle/>
          <a:p>
            <a:r>
              <a:rPr lang="fr-FR" dirty="0"/>
              <a:t>Installer Pi Os</a:t>
            </a:r>
          </a:p>
          <a:p>
            <a:r>
              <a:rPr lang="fr-FR" dirty="0"/>
              <a:t>Modifier les fichiers de configuration de démarrage " “Boot” pour activer les </a:t>
            </a:r>
            <a:r>
              <a:rPr lang="fr-FR" dirty="0" err="1"/>
              <a:t>UARTs</a:t>
            </a:r>
            <a:r>
              <a:rPr lang="fr-FR" dirty="0"/>
              <a:t>.</a:t>
            </a:r>
          </a:p>
          <a:p>
            <a:r>
              <a:rPr lang="fr-FR" dirty="0"/>
              <a:t>Installer la bibliothèque : </a:t>
            </a:r>
            <a:r>
              <a:rPr lang="fr-FR" dirty="0" err="1"/>
              <a:t>Wiring</a:t>
            </a:r>
            <a:r>
              <a:rPr lang="fr-FR" dirty="0"/>
              <a:t> Pi.</a:t>
            </a:r>
          </a:p>
          <a:p>
            <a:r>
              <a:rPr lang="fr-FR" dirty="0"/>
              <a:t>C / C++ programme pour la réception des données séries.</a:t>
            </a:r>
          </a:p>
          <a:p>
            <a:r>
              <a:rPr lang="fr-FR" dirty="0"/>
              <a:t>Les données sont disponibles pour le traitement numérique.</a:t>
            </a:r>
          </a:p>
        </p:txBody>
      </p:sp>
    </p:spTree>
    <p:extLst>
      <p:ext uri="{BB962C8B-B14F-4D97-AF65-F5344CB8AC3E}">
        <p14:creationId xmlns:p14="http://schemas.microsoft.com/office/powerpoint/2010/main" val="271878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18922-6AAB-2A84-D1DD-AFF150BC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CEA1-1ECF-72CB-6448-95F5F65D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435" y="97269"/>
            <a:ext cx="10360501" cy="122396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Mise </a:t>
            </a:r>
            <a:r>
              <a:rPr lang="en-US" sz="4400" b="1" dirty="0" err="1">
                <a:solidFill>
                  <a:schemeClr val="accent1"/>
                </a:solidFill>
              </a:rPr>
              <a:t>en</a:t>
            </a:r>
            <a:r>
              <a:rPr lang="en-US" sz="4400" b="1" dirty="0">
                <a:solidFill>
                  <a:schemeClr val="accent1"/>
                </a:solidFill>
              </a:rPr>
              <a:t> oeuvre Informatique, </a:t>
            </a:r>
            <a:r>
              <a:rPr lang="en-US" sz="4400" b="1" dirty="0"/>
              <a:t>Checklist</a:t>
            </a:r>
            <a:endParaRPr lang="fr-FR" sz="44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610E1-6275-97D4-E088-568D52B06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7435" y="1628800"/>
            <a:ext cx="9844081" cy="3015456"/>
          </a:xfrm>
        </p:spPr>
        <p:txBody>
          <a:bodyPr/>
          <a:lstStyle/>
          <a:p>
            <a:r>
              <a:rPr lang="fr-FR" dirty="0"/>
              <a:t>1. Installation et Configuration du Système </a:t>
            </a:r>
          </a:p>
          <a:p>
            <a:pPr lvl="1"/>
            <a:r>
              <a:rPr lang="fr-FR" dirty="0"/>
              <a:t>Préparation de la carte SD avec Raspberry Pi OS </a:t>
            </a:r>
          </a:p>
          <a:p>
            <a:pPr lvl="1"/>
            <a:r>
              <a:rPr lang="fr-FR" dirty="0"/>
              <a:t>Installation des bibliothèques nécessaires (</a:t>
            </a:r>
            <a:r>
              <a:rPr lang="fr-FR" dirty="0" err="1"/>
              <a:t>WiringPi</a:t>
            </a:r>
            <a:r>
              <a:rPr lang="fr-FR" dirty="0"/>
              <a:t>, etc.) </a:t>
            </a:r>
          </a:p>
          <a:p>
            <a:r>
              <a:rPr lang="fr-FR" dirty="0"/>
              <a:t>2. Développement et Programmation </a:t>
            </a:r>
          </a:p>
          <a:p>
            <a:pPr lvl="1"/>
            <a:r>
              <a:rPr lang="fr-FR" dirty="0"/>
              <a:t>Gestion des entrées/sorties MIDI </a:t>
            </a:r>
          </a:p>
          <a:p>
            <a:pPr lvl="1"/>
            <a:r>
              <a:rPr lang="fr-FR" dirty="0"/>
              <a:t>Lancement du programme de réception des données </a:t>
            </a:r>
            <a:r>
              <a:rPr lang="fr-FR" b="1" dirty="0"/>
              <a:t>MIDI</a:t>
            </a:r>
            <a:r>
              <a:rPr lang="fr-FR" dirty="0"/>
              <a:t>.</a:t>
            </a:r>
          </a:p>
          <a:p>
            <a:r>
              <a:rPr lang="fr-FR" dirty="0"/>
              <a:t>3. Tests et Validation </a:t>
            </a:r>
          </a:p>
          <a:p>
            <a:pPr lvl="1"/>
            <a:r>
              <a:rPr lang="fr-FR" dirty="0"/>
              <a:t>Vérification du bon fonctionnement conditionnement des signaux analogiques. </a:t>
            </a:r>
          </a:p>
          <a:p>
            <a:pPr lvl="1"/>
            <a:r>
              <a:rPr lang="fr-FR" dirty="0"/>
              <a:t>Vérification de la réception des </a:t>
            </a:r>
            <a:r>
              <a:rPr lang="fr-FR" b="1" dirty="0"/>
              <a:t>données MIDI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047C-2131-831D-7B22-E0558452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2E13C-D806-C013-084D-258EADD4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3583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36C9EC4-B8C5-C9D7-CF3C-20E4339CFFE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5424263"/>
              </p:ext>
            </p:extLst>
          </p:nvPr>
        </p:nvGraphicFramePr>
        <p:xfrm>
          <a:off x="1557908" y="995538"/>
          <a:ext cx="9417017" cy="52799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5658">
                  <a:extLst>
                    <a:ext uri="{9D8B030D-6E8A-4147-A177-3AD203B41FA5}">
                      <a16:colId xmlns:a16="http://schemas.microsoft.com/office/drawing/2014/main" val="4144709073"/>
                    </a:ext>
                  </a:extLst>
                </a:gridCol>
                <a:gridCol w="1455471">
                  <a:extLst>
                    <a:ext uri="{9D8B030D-6E8A-4147-A177-3AD203B41FA5}">
                      <a16:colId xmlns:a16="http://schemas.microsoft.com/office/drawing/2014/main" val="3737547506"/>
                    </a:ext>
                  </a:extLst>
                </a:gridCol>
                <a:gridCol w="1725003">
                  <a:extLst>
                    <a:ext uri="{9D8B030D-6E8A-4147-A177-3AD203B41FA5}">
                      <a16:colId xmlns:a16="http://schemas.microsoft.com/office/drawing/2014/main" val="2316948980"/>
                    </a:ext>
                  </a:extLst>
                </a:gridCol>
                <a:gridCol w="1706343">
                  <a:extLst>
                    <a:ext uri="{9D8B030D-6E8A-4147-A177-3AD203B41FA5}">
                      <a16:colId xmlns:a16="http://schemas.microsoft.com/office/drawing/2014/main" val="1701945696"/>
                    </a:ext>
                  </a:extLst>
                </a:gridCol>
                <a:gridCol w="1477239">
                  <a:extLst>
                    <a:ext uri="{9D8B030D-6E8A-4147-A177-3AD203B41FA5}">
                      <a16:colId xmlns:a16="http://schemas.microsoft.com/office/drawing/2014/main" val="3681343468"/>
                    </a:ext>
                  </a:extLst>
                </a:gridCol>
                <a:gridCol w="1507303">
                  <a:extLst>
                    <a:ext uri="{9D8B030D-6E8A-4147-A177-3AD203B41FA5}">
                      <a16:colId xmlns:a16="http://schemas.microsoft.com/office/drawing/2014/main" val="1487906844"/>
                    </a:ext>
                  </a:extLst>
                </a:gridCol>
              </a:tblGrid>
              <a:tr h="431374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Sous-système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Modules Testés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Type de Test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Critères de Validation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Résultats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Actions Correctives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3341039746"/>
                  </a:ext>
                </a:extLst>
              </a:tr>
              <a:tr h="652598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Carte Mère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FT9-0 &amp; FT9-1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Tests de fonctionnement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Bonne modularité et absence de court-circuit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1181388446"/>
                  </a:ext>
                </a:extLst>
              </a:tr>
              <a:tr h="652598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Entrée Audio Analogique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FT2-0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 de pré-amplification et filtrage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Amplification correcte, atténuation bruit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1544463315"/>
                  </a:ext>
                </a:extLst>
              </a:tr>
              <a:tr h="501596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FT2-1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 de régulation du gain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Variation du gain conforme aux attentes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3182373154"/>
                  </a:ext>
                </a:extLst>
              </a:tr>
              <a:tr h="431374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FT2-2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 de décalage (offset)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Offset réglable et stable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1747697040"/>
                  </a:ext>
                </a:extLst>
              </a:tr>
              <a:tr h="873822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FT3-0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Conversion analogique-numérique (ADC)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Résolution entre 12 et 24 bits, échantillonnage à 44,1 kHz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BC5500"/>
                          </a:highlight>
                        </a:rPr>
                        <a:t>Non-disponible ou en cours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BC55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384029787"/>
                  </a:ext>
                </a:extLst>
              </a:tr>
              <a:tr h="652598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Entrée Audio Numérique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FT1-0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 de réception MIDI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Réception des messages MIDI sans erreur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2352121853"/>
                  </a:ext>
                </a:extLst>
              </a:tr>
              <a:tr h="431374"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FT6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Synchronisation horloge MIDI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 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  <a:highlight>
                            <a:srgbClr val="BC5500"/>
                          </a:highlight>
                        </a:rPr>
                        <a:t>Non-disponible ou en cours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highlight>
                          <a:srgbClr val="BC55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797447801"/>
                  </a:ext>
                </a:extLst>
              </a:tr>
              <a:tr h="652598"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FT3 -1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Programme Conversion Analogique </a:t>
                      </a:r>
                      <a:r>
                        <a:rPr lang="fr-FR" sz="1200" dirty="0" err="1">
                          <a:effectLst/>
                        </a:rPr>
                        <a:t>Numerique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BC5500"/>
                          </a:highlight>
                        </a:rPr>
                        <a:t>Non-disponible ou en cours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BC55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Aucune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822534849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2A0539-D53B-F5C5-D89A-CD58A8E8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837DA7-FE7F-374E-6D9D-17084410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25</a:t>
            </a:fld>
            <a:endParaRPr lang="fr-FR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BD6721C-F990-3993-8FD9-6B0ACBD0D1BD}"/>
              </a:ext>
            </a:extLst>
          </p:cNvPr>
          <p:cNvSpPr txBox="1">
            <a:spLocks/>
          </p:cNvSpPr>
          <p:nvPr/>
        </p:nvSpPr>
        <p:spPr>
          <a:xfrm>
            <a:off x="914161" y="-228425"/>
            <a:ext cx="10665223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rgbClr val="009999"/>
                </a:solidFill>
                <a:latin typeface="Calibri" panose="020F0502020204030204" pitchFamily="34" charset="0"/>
              </a:rPr>
              <a:t>Synthèse globale des Teste et état actuelle de système</a:t>
            </a:r>
            <a:endParaRPr lang="fr-FR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95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D2E4D-DEF9-CDFF-257E-1A4DD48F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9D3EAC-125A-9165-7691-9A03E782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26</a:t>
            </a:fld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64E54E-E689-1BAD-855F-1476A5DC53C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47"/>
          <a:stretch/>
        </p:blipFill>
        <p:spPr bwMode="auto">
          <a:xfrm>
            <a:off x="4150196" y="1772816"/>
            <a:ext cx="3422057" cy="236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E604B1E-8670-1FCF-F628-9CC15794CAF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498" y="4407312"/>
            <a:ext cx="4707451" cy="90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BE0DACB-08A9-E63E-B95A-7B7627291C7E}"/>
              </a:ext>
            </a:extLst>
          </p:cNvPr>
          <p:cNvSpPr txBox="1">
            <a:spLocks/>
          </p:cNvSpPr>
          <p:nvPr/>
        </p:nvSpPr>
        <p:spPr>
          <a:xfrm>
            <a:off x="1227435" y="97269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chemeClr val="accent1"/>
                </a:solidFill>
              </a:rPr>
              <a:t>Exemple</a:t>
            </a:r>
            <a:r>
              <a:rPr lang="en-US" sz="4400" b="1" dirty="0">
                <a:solidFill>
                  <a:schemeClr val="accent1"/>
                </a:solidFill>
              </a:rPr>
              <a:t> de </a:t>
            </a:r>
            <a:r>
              <a:rPr lang="en-US" sz="4400" b="1" dirty="0" err="1">
                <a:solidFill>
                  <a:schemeClr val="accent1"/>
                </a:solidFill>
              </a:rPr>
              <a:t>dysfonctionnement</a:t>
            </a:r>
            <a:endParaRPr lang="fr-FR" sz="4400" b="1" dirty="0"/>
          </a:p>
        </p:txBody>
      </p:sp>
    </p:spTree>
    <p:extLst>
      <p:ext uri="{BB962C8B-B14F-4D97-AF65-F5344CB8AC3E}">
        <p14:creationId xmlns:p14="http://schemas.microsoft.com/office/powerpoint/2010/main" val="226478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D3C54-05B5-F35A-057F-6E0E80CE5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1242" y="1844824"/>
            <a:ext cx="9051993" cy="3454400"/>
          </a:xfrm>
        </p:spPr>
        <p:txBody>
          <a:bodyPr/>
          <a:lstStyle/>
          <a:p>
            <a:r>
              <a:rPr lang="fr-FR" dirty="0"/>
              <a:t>Corrective </a:t>
            </a:r>
            <a:r>
              <a:rPr lang="en-US" dirty="0"/>
              <a:t> :</a:t>
            </a:r>
          </a:p>
          <a:p>
            <a:pPr lvl="1"/>
            <a:r>
              <a:rPr lang="fr-FR" sz="2800" dirty="0"/>
              <a:t>Remplacement des modules défectueux.</a:t>
            </a:r>
          </a:p>
          <a:p>
            <a:r>
              <a:rPr lang="fr-FR" dirty="0"/>
              <a:t>Préventive  :</a:t>
            </a:r>
          </a:p>
          <a:p>
            <a:pPr lvl="1"/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Vérification régulière de la bonne connexion des modules. </a:t>
            </a:r>
          </a:p>
          <a:p>
            <a:pPr lvl="1"/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Inspection des connexions pour détecter tout signe d’usure ou de corrosion.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70FC7-C2A5-C790-D1FD-AC4361F5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853C65-21B0-3775-B21F-AD093513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27</a:t>
            </a:fld>
            <a:endParaRPr lang="fr-FR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DF360B0-98EA-92CC-820E-876741E27C64}"/>
              </a:ext>
            </a:extLst>
          </p:cNvPr>
          <p:cNvSpPr txBox="1">
            <a:spLocks/>
          </p:cNvSpPr>
          <p:nvPr/>
        </p:nvSpPr>
        <p:spPr>
          <a:xfrm>
            <a:off x="1227435" y="97269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accent1"/>
                </a:solidFill>
              </a:rPr>
              <a:t>Maintenance</a:t>
            </a:r>
            <a:endParaRPr lang="fr-FR" sz="4400" b="1" dirty="0"/>
          </a:p>
        </p:txBody>
      </p:sp>
    </p:spTree>
    <p:extLst>
      <p:ext uri="{BB962C8B-B14F-4D97-AF65-F5344CB8AC3E}">
        <p14:creationId xmlns:p14="http://schemas.microsoft.com/office/powerpoint/2010/main" val="36145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B8470-A6E9-2995-1FC1-C9F46123F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321232"/>
            <a:ext cx="10492153" cy="4850968"/>
          </a:xfrm>
        </p:spPr>
        <p:txBody>
          <a:bodyPr/>
          <a:lstStyle/>
          <a:p>
            <a:r>
              <a:rPr lang="fr-FR" dirty="0"/>
              <a:t>Gain automatique : Signaux analogiques</a:t>
            </a:r>
          </a:p>
          <a:p>
            <a:r>
              <a:rPr lang="fr-FR" dirty="0"/>
              <a:t>Mettre plus d’entrées et moyens d’envoyer des signaux.</a:t>
            </a:r>
          </a:p>
          <a:p>
            <a:r>
              <a:rPr lang="fr-FR" dirty="0"/>
              <a:t>Mettre en place des procédures de maintenance automatisées pour détecter les défaillances rapidement.</a:t>
            </a:r>
          </a:p>
          <a:p>
            <a:r>
              <a:rPr lang="fr-FR" dirty="0"/>
              <a:t>Traitement temps réel.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43AA2-DC54-0BF8-C0B5-D7E1C619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600F47-817D-3F22-4F9E-9014FA5F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28</a:t>
            </a:fld>
            <a:endParaRPr lang="fr-FR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C86238B-8C3E-D766-8040-419DE425BE69}"/>
              </a:ext>
            </a:extLst>
          </p:cNvPr>
          <p:cNvSpPr txBox="1">
            <a:spLocks/>
          </p:cNvSpPr>
          <p:nvPr/>
        </p:nvSpPr>
        <p:spPr>
          <a:xfrm>
            <a:off x="1227435" y="97269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chemeClr val="accent1"/>
                </a:solidFill>
              </a:rPr>
              <a:t>Pistes</a:t>
            </a:r>
            <a:r>
              <a:rPr lang="en-US" sz="4400" b="1" dirty="0">
                <a:solidFill>
                  <a:schemeClr val="accent1"/>
                </a:solidFill>
              </a:rPr>
              <a:t> ameliorations</a:t>
            </a:r>
            <a:endParaRPr lang="fr-FR" sz="4400" b="1" dirty="0"/>
          </a:p>
        </p:txBody>
      </p:sp>
    </p:spTree>
    <p:extLst>
      <p:ext uri="{BB962C8B-B14F-4D97-AF65-F5344CB8AC3E}">
        <p14:creationId xmlns:p14="http://schemas.microsoft.com/office/powerpoint/2010/main" val="418376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CCAE0-7D75-5315-D18F-A98FAEF9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11500" dirty="0">
                <a:solidFill>
                  <a:schemeClr val="accent1"/>
                </a:solidFill>
              </a:rPr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9DAB-311A-B8A5-E4D5-FA2BB48E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882C-578E-43CF-9E65-BCBD84298E0F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A5F06-3CF0-2D1D-F973-90E7AFE1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881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BCEE-6130-F4D9-8A7D-B0AA5358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8A750-CBB1-1D1C-DA75-A7854DC2A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BE81C-293A-9F35-123D-FD0BF74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882C-578E-43CF-9E65-BCBD84298E0F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0570-35F6-DA14-120F-7D267C76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30</a:t>
            </a:fld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6E08F1-F5BE-AC22-E8D6-DA077A72A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277" y="580627"/>
            <a:ext cx="5344271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2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5FCF-AC43-AD93-B66C-9EBC1E31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35B5D-F4E0-D30B-FA65-089E8DC05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E5F63-CFAA-A638-90F7-FFEEF2243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882C-578E-43CF-9E65-BCBD84298E0F}" type="datetime1">
              <a:rPr lang="fr-FR" smtClean="0"/>
              <a:t>01/05/2025</a:t>
            </a:fld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9119CA-9F64-2495-109E-CF56CBCC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31</a:t>
            </a:fld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FE982E-3A39-B443-9F0C-9685B32A9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24" y="1124745"/>
            <a:ext cx="11241975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3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ogie 16: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57_TF02787990_TF02787990.potx" id="{ABCB071B-19A3-44BE-B302-F4BBE7E3E2D5}" vid="{F4600F28-01B2-4FC5-9857-5FFF9F08051B}"/>
    </a:ext>
  </a:extLst>
</a:theme>
</file>

<file path=ppt/theme/theme2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Circuit à trois lignes (grand écran)</Template>
  <TotalTime>1752</TotalTime>
  <Words>1035</Words>
  <Application>Microsoft Office PowerPoint</Application>
  <PresentationFormat>Custom</PresentationFormat>
  <Paragraphs>251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Technologie 16:9</vt:lpstr>
      <vt:lpstr>Table de Mixage : SmartMix</vt:lpstr>
      <vt:lpstr>Sommaire </vt:lpstr>
      <vt:lpstr>Contexte et Besoin</vt:lpstr>
      <vt:lpstr>FAST</vt:lpstr>
      <vt:lpstr>PowerPoint Presentation</vt:lpstr>
      <vt:lpstr>Caractéristiques principales</vt:lpstr>
      <vt:lpstr>Conditionnement de signal analogique</vt:lpstr>
      <vt:lpstr>Entrée Numérique</vt:lpstr>
      <vt:lpstr>Approche de Conception : Modulaire</vt:lpstr>
      <vt:lpstr>Entrée et Protection Surtensions</vt:lpstr>
      <vt:lpstr>Entrée Haute Impédance</vt:lpstr>
      <vt:lpstr>Entrée Haute Impédance</vt:lpstr>
      <vt:lpstr>Amplification</vt:lpstr>
      <vt:lpstr>PowerPoint Presentation</vt:lpstr>
      <vt:lpstr>PowerPoint Presentation</vt:lpstr>
      <vt:lpstr>Offset</vt:lpstr>
      <vt:lpstr>Conversion Analogique Numérique</vt:lpstr>
      <vt:lpstr>Carte Mère</vt:lpstr>
      <vt:lpstr>Mise en œuvre électrique, Checklist</vt:lpstr>
      <vt:lpstr>Entrée Numérique et Isolation électrique</vt:lpstr>
      <vt:lpstr>Données Midi</vt:lpstr>
      <vt:lpstr>GPIO : Uart</vt:lpstr>
      <vt:lpstr>Configuration Uart</vt:lpstr>
      <vt:lpstr>Mise en oeuvre Informatique, Checklist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_ Kryptos_</dc:creator>
  <cp:lastModifiedBy>Styxie x</cp:lastModifiedBy>
  <cp:revision>5</cp:revision>
  <dcterms:created xsi:type="dcterms:W3CDTF">2024-12-13T12:29:08Z</dcterms:created>
  <dcterms:modified xsi:type="dcterms:W3CDTF">2025-05-01T11:18:43Z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